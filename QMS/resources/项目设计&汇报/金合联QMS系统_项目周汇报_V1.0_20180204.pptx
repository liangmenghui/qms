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6A495E2B-DA26-4EC7-BAF0-A1FC483D1AD7}">
  <a:tblStyle styleId="{6A495E2B-DA26-4EC7-BAF0-A1FC483D1A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C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Shape 86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Shape 104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Shape 155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Shape 173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Shape 181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Shape 189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幻灯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和内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节标题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两栏内容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Shape 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比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仅标题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内容与标题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Shape 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图片与标题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Shape 6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和竖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Shape 74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垂直排列标题与文本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88" name="Shape 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89" name="Shape 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Shape 90"/>
          <p:cNvSpPr txBox="1"/>
          <p:nvPr/>
        </p:nvSpPr>
        <p:spPr>
          <a:xfrm>
            <a:off x="1619672" y="2164378"/>
            <a:ext cx="63401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深圳市金合联供应链技术有限公司</a:t>
            </a:r>
            <a:endParaRPr/>
          </a:p>
        </p:txBody>
      </p:sp>
      <p:sp>
        <p:nvSpPr>
          <p:cNvPr id="91" name="Shape 91"/>
          <p:cNvSpPr txBox="1"/>
          <p:nvPr/>
        </p:nvSpPr>
        <p:spPr>
          <a:xfrm>
            <a:off x="3635896" y="3342183"/>
            <a:ext cx="17235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项目周汇报</a:t>
            </a:r>
            <a:endParaRPr/>
          </a:p>
        </p:txBody>
      </p:sp>
      <p:sp>
        <p:nvSpPr>
          <p:cNvPr id="92" name="Shape 92"/>
          <p:cNvSpPr txBox="1"/>
          <p:nvPr/>
        </p:nvSpPr>
        <p:spPr>
          <a:xfrm>
            <a:off x="3350561" y="4437112"/>
            <a:ext cx="231267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QMS平台项目组</a:t>
            </a: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3762494" y="4898777"/>
            <a:ext cx="1529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2018年2月4日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98" name="Shape 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99" name="Shape 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Shape 100"/>
          <p:cNvSpPr txBox="1"/>
          <p:nvPr/>
        </p:nvSpPr>
        <p:spPr>
          <a:xfrm>
            <a:off x="395536" y="7904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目录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Shape 101"/>
          <p:cNvSpPr txBox="1"/>
          <p:nvPr/>
        </p:nvSpPr>
        <p:spPr>
          <a:xfrm>
            <a:off x="395536" y="185405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上周项目组总体汇报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本周总体工作安排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需要沟通协调的事项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其他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06" name="Shape 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07" name="Shape 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hape 108"/>
          <p:cNvSpPr txBox="1"/>
          <p:nvPr/>
        </p:nvSpPr>
        <p:spPr>
          <a:xfrm>
            <a:off x="-21197" y="45533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项目阶段：系统上线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Shape 109"/>
          <p:cNvGrpSpPr/>
          <p:nvPr/>
        </p:nvGrpSpPr>
        <p:grpSpPr>
          <a:xfrm>
            <a:off x="3448050" y="3754438"/>
            <a:ext cx="1012825" cy="3048408"/>
            <a:chOff x="0" y="0"/>
            <a:chExt cx="1012825" cy="3942587"/>
          </a:xfrm>
        </p:grpSpPr>
        <p:cxnSp>
          <p:nvCxnSpPr>
            <p:cNvPr id="110" name="Shape 110"/>
            <p:cNvCxnSpPr/>
            <p:nvPr/>
          </p:nvCxnSpPr>
          <p:spPr>
            <a:xfrm rot="10800000">
              <a:off x="364753" y="0"/>
              <a:ext cx="1" cy="338032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111" name="Shape 111"/>
            <p:cNvSpPr txBox="1"/>
            <p:nvPr/>
          </p:nvSpPr>
          <p:spPr>
            <a:xfrm>
              <a:off x="0" y="3423978"/>
              <a:ext cx="1012825" cy="518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920"/>
                <a:buFont typeface="Times"/>
                <a:buNone/>
              </a:pPr>
              <a:r>
                <a:rPr b="1" lang="zh-CN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当前进度</a:t>
              </a:r>
              <a:endParaRPr/>
            </a:p>
          </p:txBody>
        </p:sp>
      </p:grpSp>
      <p:sp>
        <p:nvSpPr>
          <p:cNvPr id="112" name="Shape 112"/>
          <p:cNvSpPr txBox="1"/>
          <p:nvPr/>
        </p:nvSpPr>
        <p:spPr>
          <a:xfrm>
            <a:off x="7046913" y="5970588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上线切换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Shape 113"/>
          <p:cNvCxnSpPr/>
          <p:nvPr/>
        </p:nvCxnSpPr>
        <p:spPr>
          <a:xfrm flipH="1">
            <a:off x="187325" y="1754188"/>
            <a:ext cx="1588" cy="4210050"/>
          </a:xfrm>
          <a:prstGeom prst="straightConnector1">
            <a:avLst/>
          </a:prstGeom>
          <a:noFill/>
          <a:ln cap="flat" cmpd="sng" w="38100">
            <a:solidFill>
              <a:srgbClr val="003399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4" name="Shape 114"/>
          <p:cNvCxnSpPr/>
          <p:nvPr/>
        </p:nvCxnSpPr>
        <p:spPr>
          <a:xfrm flipH="1" rot="10800000">
            <a:off x="187325" y="5959475"/>
            <a:ext cx="8863013" cy="9525"/>
          </a:xfrm>
          <a:prstGeom prst="straightConnector1">
            <a:avLst/>
          </a:prstGeom>
          <a:noFill/>
          <a:ln cap="flat" cmpd="sng" w="38100">
            <a:solidFill>
              <a:srgbClr val="0033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Shape 115"/>
          <p:cNvSpPr/>
          <p:nvPr/>
        </p:nvSpPr>
        <p:spPr>
          <a:xfrm>
            <a:off x="265113" y="4135438"/>
            <a:ext cx="1098550" cy="2095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Shape 116"/>
          <p:cNvCxnSpPr/>
          <p:nvPr/>
        </p:nvCxnSpPr>
        <p:spPr>
          <a:xfrm rot="10800000">
            <a:off x="3122613" y="3754288"/>
            <a:ext cx="0" cy="222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7" name="Shape 117"/>
          <p:cNvSpPr txBox="1"/>
          <p:nvPr/>
        </p:nvSpPr>
        <p:spPr>
          <a:xfrm>
            <a:off x="3289300" y="3200400"/>
            <a:ext cx="9032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蓝图设计</a:t>
            </a:r>
            <a:endParaRPr/>
          </a:p>
        </p:txBody>
      </p:sp>
      <p:sp>
        <p:nvSpPr>
          <p:cNvPr id="118" name="Shape 118"/>
          <p:cNvSpPr txBox="1"/>
          <p:nvPr/>
        </p:nvSpPr>
        <p:spPr>
          <a:xfrm>
            <a:off x="8383962" y="5649295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时间</a:t>
            </a:r>
            <a:endParaRPr/>
          </a:p>
        </p:txBody>
      </p:sp>
      <p:sp>
        <p:nvSpPr>
          <p:cNvPr id="119" name="Shape 119"/>
          <p:cNvSpPr txBox="1"/>
          <p:nvPr/>
        </p:nvSpPr>
        <p:spPr>
          <a:xfrm>
            <a:off x="417513" y="37528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项目准备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Shape 120"/>
          <p:cNvCxnSpPr/>
          <p:nvPr/>
        </p:nvCxnSpPr>
        <p:spPr>
          <a:xfrm rot="10800000">
            <a:off x="1560513" y="4058491"/>
            <a:ext cx="0" cy="18986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1" name="Shape 121"/>
          <p:cNvSpPr txBox="1"/>
          <p:nvPr/>
        </p:nvSpPr>
        <p:spPr>
          <a:xfrm>
            <a:off x="188913" y="4483100"/>
            <a:ext cx="13716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项目组织架构及职责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项目章程规划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制定项目计划</a:t>
            </a:r>
            <a:endParaRPr/>
          </a:p>
        </p:txBody>
      </p:sp>
      <p:cxnSp>
        <p:nvCxnSpPr>
          <p:cNvPr id="122" name="Shape 122"/>
          <p:cNvCxnSpPr/>
          <p:nvPr/>
        </p:nvCxnSpPr>
        <p:spPr>
          <a:xfrm rot="10800000">
            <a:off x="4608513" y="3575050"/>
            <a:ext cx="0" cy="24177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3" name="Shape 123"/>
          <p:cNvCxnSpPr/>
          <p:nvPr/>
        </p:nvCxnSpPr>
        <p:spPr>
          <a:xfrm rot="10800000">
            <a:off x="6056313" y="2809875"/>
            <a:ext cx="0" cy="3181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4" name="Shape 124"/>
          <p:cNvSpPr txBox="1"/>
          <p:nvPr/>
        </p:nvSpPr>
        <p:spPr>
          <a:xfrm>
            <a:off x="1668463" y="3363913"/>
            <a:ext cx="1225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/>
          </a:p>
        </p:txBody>
      </p:sp>
      <p:sp>
        <p:nvSpPr>
          <p:cNvPr id="125" name="Shape 125"/>
          <p:cNvSpPr txBox="1"/>
          <p:nvPr/>
        </p:nvSpPr>
        <p:spPr>
          <a:xfrm>
            <a:off x="1579563" y="4032250"/>
            <a:ext cx="13144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现状业务分析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编写调研报告</a:t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3160713" y="3849688"/>
            <a:ext cx="12954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讨论业务需求，形成业务蓝图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编写蓝图设计</a:t>
            </a:r>
            <a:endParaRPr/>
          </a:p>
        </p:txBody>
      </p:sp>
      <p:cxnSp>
        <p:nvCxnSpPr>
          <p:cNvPr id="127" name="Shape 127"/>
          <p:cNvCxnSpPr/>
          <p:nvPr/>
        </p:nvCxnSpPr>
        <p:spPr>
          <a:xfrm rot="10800000">
            <a:off x="7504113" y="2560638"/>
            <a:ext cx="0" cy="34099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Shape 128"/>
          <p:cNvSpPr txBox="1"/>
          <p:nvPr/>
        </p:nvSpPr>
        <p:spPr>
          <a:xfrm>
            <a:off x="6056313" y="2460625"/>
            <a:ext cx="1327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上线准备</a:t>
            </a:r>
            <a:endParaRPr/>
          </a:p>
        </p:txBody>
      </p:sp>
      <p:sp>
        <p:nvSpPr>
          <p:cNvPr id="129" name="Shape 129"/>
          <p:cNvSpPr txBox="1"/>
          <p:nvPr/>
        </p:nvSpPr>
        <p:spPr>
          <a:xfrm>
            <a:off x="6107113" y="3030538"/>
            <a:ext cx="13208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系统上线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用户培训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个性化报表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085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hape 130"/>
          <p:cNvSpPr txBox="1"/>
          <p:nvPr/>
        </p:nvSpPr>
        <p:spPr>
          <a:xfrm>
            <a:off x="265113" y="1754188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实施内容</a:t>
            </a:r>
            <a:endParaRPr/>
          </a:p>
        </p:txBody>
      </p:sp>
      <p:sp>
        <p:nvSpPr>
          <p:cNvPr id="131" name="Shape 131"/>
          <p:cNvSpPr txBox="1"/>
          <p:nvPr/>
        </p:nvSpPr>
        <p:spPr>
          <a:xfrm>
            <a:off x="1147763" y="5999163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正式启动</a:t>
            </a:r>
            <a:endParaRPr/>
          </a:p>
        </p:txBody>
      </p:sp>
      <p:sp>
        <p:nvSpPr>
          <p:cNvPr id="132" name="Shape 132"/>
          <p:cNvSpPr txBox="1"/>
          <p:nvPr/>
        </p:nvSpPr>
        <p:spPr>
          <a:xfrm>
            <a:off x="2627313" y="60007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Shape 133"/>
          <p:cNvSpPr txBox="1"/>
          <p:nvPr/>
        </p:nvSpPr>
        <p:spPr>
          <a:xfrm>
            <a:off x="4162425" y="6000750"/>
            <a:ext cx="9032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蓝图签署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Shape 134"/>
          <p:cNvSpPr txBox="1"/>
          <p:nvPr/>
        </p:nvSpPr>
        <p:spPr>
          <a:xfrm>
            <a:off x="5599113" y="60007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测试完成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Shape 135"/>
          <p:cNvSpPr txBox="1"/>
          <p:nvPr/>
        </p:nvSpPr>
        <p:spPr>
          <a:xfrm>
            <a:off x="1560513" y="2565877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2018/1/16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2018/1/24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Shape 136"/>
          <p:cNvSpPr txBox="1"/>
          <p:nvPr/>
        </p:nvSpPr>
        <p:spPr>
          <a:xfrm>
            <a:off x="3084513" y="2421414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2018/2/10</a:t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6056313" y="1558608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2018/5/26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2018/6/26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1611313" y="3751263"/>
            <a:ext cx="1282700" cy="215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3084513" y="3582988"/>
            <a:ext cx="1325700" cy="209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4662488" y="3297238"/>
            <a:ext cx="1209675" cy="211137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Shape 141"/>
          <p:cNvSpPr txBox="1"/>
          <p:nvPr/>
        </p:nvSpPr>
        <p:spPr>
          <a:xfrm>
            <a:off x="4648200" y="3702850"/>
            <a:ext cx="1331913" cy="904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安装开发机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功能开发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用户测试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操作手册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Shape 142"/>
          <p:cNvSpPr txBox="1"/>
          <p:nvPr/>
        </p:nvSpPr>
        <p:spPr>
          <a:xfrm>
            <a:off x="4608513" y="2206308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2018/2/22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2018/5/25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Shape 143"/>
          <p:cNvSpPr txBox="1"/>
          <p:nvPr/>
        </p:nvSpPr>
        <p:spPr>
          <a:xfrm>
            <a:off x="4608513" y="2989263"/>
            <a:ext cx="12636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系统实现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Shape 144"/>
          <p:cNvSpPr/>
          <p:nvPr/>
        </p:nvSpPr>
        <p:spPr>
          <a:xfrm>
            <a:off x="6176963" y="2767013"/>
            <a:ext cx="1152525" cy="20637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Shape 145"/>
          <p:cNvSpPr txBox="1"/>
          <p:nvPr/>
        </p:nvSpPr>
        <p:spPr>
          <a:xfrm>
            <a:off x="7478713" y="1198245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2018/6/27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2018/7/27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Shape 146"/>
          <p:cNvSpPr txBox="1"/>
          <p:nvPr/>
        </p:nvSpPr>
        <p:spPr>
          <a:xfrm>
            <a:off x="7450138" y="2030413"/>
            <a:ext cx="1327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线外支持</a:t>
            </a: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7621588" y="2316163"/>
            <a:ext cx="1152525" cy="20637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Shape 148"/>
          <p:cNvSpPr txBox="1"/>
          <p:nvPr/>
        </p:nvSpPr>
        <p:spPr>
          <a:xfrm>
            <a:off x="7658100" y="2673350"/>
            <a:ext cx="1320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运行总结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线外支持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085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Shape 149"/>
          <p:cNvCxnSpPr/>
          <p:nvPr/>
        </p:nvCxnSpPr>
        <p:spPr>
          <a:xfrm rot="10800000">
            <a:off x="8907463" y="2549525"/>
            <a:ext cx="0" cy="34099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Shape 150"/>
          <p:cNvSpPr txBox="1"/>
          <p:nvPr/>
        </p:nvSpPr>
        <p:spPr>
          <a:xfrm>
            <a:off x="6234113" y="4400550"/>
            <a:ext cx="1066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系统上线 </a:t>
            </a:r>
            <a:endParaRPr b="1" sz="16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Shape 151"/>
          <p:cNvSpPr/>
          <p:nvPr/>
        </p:nvSpPr>
        <p:spPr>
          <a:xfrm>
            <a:off x="6572250" y="3908425"/>
            <a:ext cx="360363" cy="36195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Shape 152"/>
          <p:cNvSpPr txBox="1"/>
          <p:nvPr/>
        </p:nvSpPr>
        <p:spPr>
          <a:xfrm>
            <a:off x="36513" y="2978627"/>
            <a:ext cx="1676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2018/1/15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57" name="Shape 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58" name="Shape 1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Shape 159"/>
          <p:cNvSpPr txBox="1"/>
          <p:nvPr/>
        </p:nvSpPr>
        <p:spPr>
          <a:xfrm>
            <a:off x="457200" y="541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项目整体状况</a:t>
            </a:r>
            <a:endParaRPr/>
          </a:p>
        </p:txBody>
      </p:sp>
      <p:graphicFrame>
        <p:nvGraphicFramePr>
          <p:cNvPr id="160" name="Shape 160"/>
          <p:cNvGraphicFramePr/>
          <p:nvPr/>
        </p:nvGraphicFramePr>
        <p:xfrm>
          <a:off x="179388" y="1468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{6A495E2B-DA26-4EC7-BAF0-A1FC483D1AD7}</a:tableStyleId>
              </a:tblPr>
              <a:tblGrid>
                <a:gridCol w="5400675"/>
                <a:gridCol w="865175"/>
                <a:gridCol w="863600"/>
                <a:gridCol w="792175"/>
                <a:gridCol w="792150"/>
              </a:tblGrid>
              <a:tr h="504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项目状态指示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C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</a:tr>
              <a:tr h="8591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 = 项目处于正常可控状态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 = 出现问题，但不影响项目整体进度，需要及时解决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 = 出现重大问题，影响项目整体进度，需要立即解决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 = 未开始或已结束</a:t>
                      </a:r>
                      <a:endParaRPr/>
                    </a:p>
                  </a:txBody>
                  <a:tcPr marT="45650" marB="4565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" name="Shape 161"/>
          <p:cNvGraphicFramePr/>
          <p:nvPr/>
        </p:nvGraphicFramePr>
        <p:xfrm>
          <a:off x="169863" y="2920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{6A495E2B-DA26-4EC7-BAF0-A1FC483D1AD7}</a:tableStyleId>
              </a:tblPr>
              <a:tblGrid>
                <a:gridCol w="5395900"/>
                <a:gridCol w="868375"/>
                <a:gridCol w="865175"/>
                <a:gridCol w="795350"/>
                <a:gridCol w="808025"/>
              </a:tblGrid>
              <a:tr h="5048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项目状态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C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</a:tr>
              <a:tr h="475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项目整体情况</a:t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系统调研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5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业务蓝图设计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系统实现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系统上线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lert Caution" id="162" name="Shape 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4813" y="2338162"/>
            <a:ext cx="261937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ert Stop 2" id="163" name="Shape 1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73963" y="2323874"/>
            <a:ext cx="287337" cy="287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64" name="Shape 1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2322287"/>
            <a:ext cx="287338" cy="28733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Shape 165"/>
          <p:cNvSpPr/>
          <p:nvPr/>
        </p:nvSpPr>
        <p:spPr>
          <a:xfrm>
            <a:off x="8358188" y="2369912"/>
            <a:ext cx="209550" cy="2190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81850" spcFirstLastPara="1" rIns="81850" wrap="square" tIns="4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8393113" y="5128352"/>
            <a:ext cx="209400" cy="219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81850" spcFirstLastPara="1" rIns="81850" wrap="square" tIns="4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Shape 167"/>
          <p:cNvSpPr/>
          <p:nvPr/>
        </p:nvSpPr>
        <p:spPr>
          <a:xfrm>
            <a:off x="8393113" y="5644607"/>
            <a:ext cx="209400" cy="219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81850" spcFirstLastPara="1" rIns="81850" wrap="square" tIns="4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ust" id="168" name="Shape 1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70482" y="3501008"/>
            <a:ext cx="287338" cy="28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69" name="Shape 1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4020277"/>
            <a:ext cx="287338" cy="28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70" name="Shape 1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4611452"/>
            <a:ext cx="287338" cy="28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75" name="Shape 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76" name="Shape 1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Shape 177"/>
          <p:cNvSpPr txBox="1"/>
          <p:nvPr/>
        </p:nvSpPr>
        <p:spPr>
          <a:xfrm>
            <a:off x="45720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上周主要工作进展</a:t>
            </a:r>
            <a:endParaRPr/>
          </a:p>
        </p:txBody>
      </p:sp>
      <p:sp>
        <p:nvSpPr>
          <p:cNvPr id="178" name="Shape 178"/>
          <p:cNvSpPr txBox="1"/>
          <p:nvPr/>
        </p:nvSpPr>
        <p:spPr>
          <a:xfrm>
            <a:off x="457200" y="1696234"/>
            <a:ext cx="8229600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数据库表设计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项目蓝图制作(50%);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项目设计图制作(90%);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UNIND供应链基础平台</a:t>
            </a: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接口对接&amp;测试</a:t>
            </a: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项目前端</a:t>
            </a: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页面开发(5%)</a:t>
            </a: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83" name="Shape 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84" name="Shape 1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Shape 185"/>
          <p:cNvSpPr txBox="1"/>
          <p:nvPr/>
        </p:nvSpPr>
        <p:spPr>
          <a:xfrm>
            <a:off x="45720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本周主要工作计划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Shape 186"/>
          <p:cNvSpPr txBox="1"/>
          <p:nvPr/>
        </p:nvSpPr>
        <p:spPr>
          <a:xfrm>
            <a:off x="457200" y="1701949"/>
            <a:ext cx="8229600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原型设计完善&amp;定稿;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前端页面制作(产品审核);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项目蓝图制作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UNIND供应链基础平台功能对接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产品部分接口开发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91" name="Shape 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92" name="Shape 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Shape 193"/>
          <p:cNvSpPr txBox="1"/>
          <p:nvPr/>
        </p:nvSpPr>
        <p:spPr>
          <a:xfrm>
            <a:off x="457200" y="773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zh-C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需要沟通协调的事项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323850" y="1773461"/>
            <a:ext cx="8640763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原型细节沟通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审核流程沟通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开发平台问题沟通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