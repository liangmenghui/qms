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FF814D49-E344-4421-B8D2-399FFB197A0A}">
  <a:tblStyle styleId="{FF814D49-E344-4421-B8D2-399FFB197A0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Shape 4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Shape 5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Shape 6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Shape 7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zh-C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Shape 86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Shape 96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103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Shape 104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154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Shape 155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172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Shape 173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Shape 181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188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Shape 189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标题幻灯片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Shape 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 marR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Shape 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Shape 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Shape 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标题和内容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" name="Shape 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Shape 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Shape 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Shape 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节标题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9" name="Shape 2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Shape 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Shape 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Shape 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两栏内容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5" name="Shape 3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Shape 3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Shape 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Shape 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Shape 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比较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2" name="Shape 4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Shape 4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Shape 4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Shape 4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Shape 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Shape 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Shape 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仅标题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1" name="Shape 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Shape 5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Shape 5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空白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Shape 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Shape 5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内容与标题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0" name="Shape 6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Shape 6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Shape 6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Shape 6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Shape 6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图片与标题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7" name="Shape 6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Shape 6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Shape 6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Shape 7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Shape 7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标题和竖排文字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4" name="Shape 74"/>
          <p:cNvSpPr txBox="1"/>
          <p:nvPr>
            <p:ph idx="1" type="body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Shape 7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Shape 7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Shape 7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垂直排列标题与文本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0" name="Shape 80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Shape 8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Shape 8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Shape 8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Shape 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Shape 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Shape 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Shape 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3.png"/><Relationship Id="rId8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 rotWithShape="1">
          <a:blip r:embed="rId3">
            <a:alphaModFix/>
          </a:blip>
          <a:stretch>
            <a:fillRect b="-999" l="0" r="0" t="-999"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:\Resource\WorkFile\客户资料\嘉联科技\LOGO.png" id="88" name="Shape 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53788" y="116632"/>
            <a:ext cx="1790700" cy="749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Resource\WorkFile\朋乐\logoblur.png" id="89" name="Shape 8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16216" y="116632"/>
            <a:ext cx="2489200" cy="5842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Shape 90"/>
          <p:cNvSpPr txBox="1"/>
          <p:nvPr/>
        </p:nvSpPr>
        <p:spPr>
          <a:xfrm>
            <a:off x="1619672" y="2164378"/>
            <a:ext cx="634019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深圳市金合联供应链技术有限公司</a:t>
            </a:r>
            <a:endParaRPr/>
          </a:p>
        </p:txBody>
      </p:sp>
      <p:sp>
        <p:nvSpPr>
          <p:cNvPr id="91" name="Shape 91"/>
          <p:cNvSpPr txBox="1"/>
          <p:nvPr/>
        </p:nvSpPr>
        <p:spPr>
          <a:xfrm>
            <a:off x="3635896" y="3342183"/>
            <a:ext cx="172354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项目周汇报</a:t>
            </a:r>
            <a:endParaRPr/>
          </a:p>
        </p:txBody>
      </p:sp>
      <p:sp>
        <p:nvSpPr>
          <p:cNvPr id="92" name="Shape 92"/>
          <p:cNvSpPr txBox="1"/>
          <p:nvPr/>
        </p:nvSpPr>
        <p:spPr>
          <a:xfrm>
            <a:off x="3350561" y="4437112"/>
            <a:ext cx="2312670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QMS平台项目组</a:t>
            </a:r>
            <a:endParaRPr/>
          </a:p>
        </p:txBody>
      </p:sp>
      <p:sp>
        <p:nvSpPr>
          <p:cNvPr id="93" name="Shape 93"/>
          <p:cNvSpPr txBox="1"/>
          <p:nvPr/>
        </p:nvSpPr>
        <p:spPr>
          <a:xfrm>
            <a:off x="3762494" y="4898777"/>
            <a:ext cx="15295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2018年4月16日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 rotWithShape="1">
          <a:blip r:embed="rId3">
            <a:alphaModFix/>
          </a:blip>
          <a:stretch>
            <a:fillRect b="-999" l="0" r="0" t="-999"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:\Resource\WorkFile\客户资料\嘉联科技\LOGO.png" id="98" name="Shape 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53788" y="116632"/>
            <a:ext cx="1790700" cy="749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Resource\WorkFile\朋乐\logoblur.png" id="99" name="Shape 9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16216" y="116632"/>
            <a:ext cx="2489200" cy="58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Shape 100"/>
          <p:cNvSpPr txBox="1"/>
          <p:nvPr/>
        </p:nvSpPr>
        <p:spPr>
          <a:xfrm>
            <a:off x="395536" y="79043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zh-C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目录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Shape 101"/>
          <p:cNvSpPr txBox="1"/>
          <p:nvPr/>
        </p:nvSpPr>
        <p:spPr>
          <a:xfrm>
            <a:off x="395536" y="185405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Noto Sans Symbols"/>
              <a:buChar char="▪"/>
            </a:pPr>
            <a:r>
              <a:rPr lang="zh-C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上周项目组总体汇报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Noto Sans Symbols"/>
              <a:buChar char="▪"/>
            </a:pPr>
            <a:r>
              <a:rPr lang="zh-C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本周总体工作安排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Noto Sans Symbols"/>
              <a:buChar char="▪"/>
            </a:pPr>
            <a:r>
              <a:rPr lang="zh-C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需要沟通协调的事项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Noto Sans Symbols"/>
              <a:buChar char="▪"/>
            </a:pPr>
            <a:r>
              <a:rPr lang="zh-C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其他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 rotWithShape="1">
          <a:blip r:embed="rId3">
            <a:alphaModFix/>
          </a:blip>
          <a:stretch>
            <a:fillRect b="-999" l="0" r="0" t="-999"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:\Resource\WorkFile\客户资料\嘉联科技\LOGO.png" id="106" name="Shape 10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53788" y="116632"/>
            <a:ext cx="1790700" cy="749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Resource\WorkFile\朋乐\logoblur.png" id="107" name="Shape 10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16216" y="116632"/>
            <a:ext cx="2489200" cy="58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Shape 108"/>
          <p:cNvSpPr txBox="1"/>
          <p:nvPr/>
        </p:nvSpPr>
        <p:spPr>
          <a:xfrm>
            <a:off x="-21197" y="45533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zh-C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项目阶段：系统上线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9" name="Shape 109"/>
          <p:cNvGrpSpPr/>
          <p:nvPr/>
        </p:nvGrpSpPr>
        <p:grpSpPr>
          <a:xfrm>
            <a:off x="5207013" y="3551513"/>
            <a:ext cx="1012825" cy="3048408"/>
            <a:chOff x="0" y="0"/>
            <a:chExt cx="1012825" cy="3942587"/>
          </a:xfrm>
        </p:grpSpPr>
        <p:cxnSp>
          <p:nvCxnSpPr>
            <p:cNvPr id="110" name="Shape 110"/>
            <p:cNvCxnSpPr/>
            <p:nvPr/>
          </p:nvCxnSpPr>
          <p:spPr>
            <a:xfrm rot="10800000">
              <a:off x="364753" y="0"/>
              <a:ext cx="1" cy="3380322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dot"/>
              <a:round/>
              <a:headEnd len="sm" w="sm" type="none"/>
              <a:tailEnd len="sm" w="sm" type="none"/>
            </a:ln>
          </p:spPr>
        </p:cxnSp>
        <p:sp>
          <p:nvSpPr>
            <p:cNvPr id="111" name="Shape 111"/>
            <p:cNvSpPr txBox="1"/>
            <p:nvPr/>
          </p:nvSpPr>
          <p:spPr>
            <a:xfrm>
              <a:off x="0" y="3423978"/>
              <a:ext cx="1012825" cy="5186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920"/>
                <a:buFont typeface="Times"/>
                <a:buNone/>
              </a:pPr>
              <a:r>
                <a:rPr b="1" lang="zh-CN" sz="16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当前进度</a:t>
              </a:r>
              <a:endParaRPr/>
            </a:p>
          </p:txBody>
        </p:sp>
      </p:grpSp>
      <p:sp>
        <p:nvSpPr>
          <p:cNvPr id="112" name="Shape 112"/>
          <p:cNvSpPr txBox="1"/>
          <p:nvPr/>
        </p:nvSpPr>
        <p:spPr>
          <a:xfrm>
            <a:off x="7046913" y="5970588"/>
            <a:ext cx="903287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上线切换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" name="Shape 113"/>
          <p:cNvCxnSpPr/>
          <p:nvPr/>
        </p:nvCxnSpPr>
        <p:spPr>
          <a:xfrm flipH="1">
            <a:off x="187325" y="1754188"/>
            <a:ext cx="1588" cy="4210050"/>
          </a:xfrm>
          <a:prstGeom prst="straightConnector1">
            <a:avLst/>
          </a:prstGeom>
          <a:noFill/>
          <a:ln cap="flat" cmpd="sng" w="38100">
            <a:solidFill>
              <a:srgbClr val="003399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114" name="Shape 114"/>
          <p:cNvCxnSpPr/>
          <p:nvPr/>
        </p:nvCxnSpPr>
        <p:spPr>
          <a:xfrm flipH="1" rot="10800000">
            <a:off x="187325" y="5959475"/>
            <a:ext cx="8863013" cy="9525"/>
          </a:xfrm>
          <a:prstGeom prst="straightConnector1">
            <a:avLst/>
          </a:prstGeom>
          <a:noFill/>
          <a:ln cap="flat" cmpd="sng" w="38100">
            <a:solidFill>
              <a:srgbClr val="00339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5" name="Shape 115"/>
          <p:cNvSpPr/>
          <p:nvPr/>
        </p:nvSpPr>
        <p:spPr>
          <a:xfrm>
            <a:off x="265113" y="4135438"/>
            <a:ext cx="1098550" cy="20955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rotWithShape="0" algn="ctr" dir="2700000" dist="107763">
              <a:srgbClr val="808080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6" name="Shape 116"/>
          <p:cNvCxnSpPr/>
          <p:nvPr/>
        </p:nvCxnSpPr>
        <p:spPr>
          <a:xfrm rot="10800000">
            <a:off x="3122613" y="3754288"/>
            <a:ext cx="0" cy="2229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7" name="Shape 117"/>
          <p:cNvSpPr txBox="1"/>
          <p:nvPr/>
        </p:nvSpPr>
        <p:spPr>
          <a:xfrm>
            <a:off x="3289300" y="3200400"/>
            <a:ext cx="903288" cy="307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蓝图设计</a:t>
            </a:r>
            <a:endParaRPr/>
          </a:p>
        </p:txBody>
      </p:sp>
      <p:sp>
        <p:nvSpPr>
          <p:cNvPr id="118" name="Shape 118"/>
          <p:cNvSpPr txBox="1"/>
          <p:nvPr/>
        </p:nvSpPr>
        <p:spPr>
          <a:xfrm>
            <a:off x="8383962" y="5649295"/>
            <a:ext cx="539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时间</a:t>
            </a:r>
            <a:endParaRPr/>
          </a:p>
        </p:txBody>
      </p:sp>
      <p:sp>
        <p:nvSpPr>
          <p:cNvPr id="119" name="Shape 119"/>
          <p:cNvSpPr txBox="1"/>
          <p:nvPr/>
        </p:nvSpPr>
        <p:spPr>
          <a:xfrm>
            <a:off x="417513" y="3752850"/>
            <a:ext cx="903287" cy="307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项目准备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0" name="Shape 120"/>
          <p:cNvCxnSpPr/>
          <p:nvPr/>
        </p:nvCxnSpPr>
        <p:spPr>
          <a:xfrm rot="10800000">
            <a:off x="1560513" y="4058491"/>
            <a:ext cx="0" cy="189865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21" name="Shape 121"/>
          <p:cNvSpPr txBox="1"/>
          <p:nvPr/>
        </p:nvSpPr>
        <p:spPr>
          <a:xfrm>
            <a:off x="188913" y="4483100"/>
            <a:ext cx="1371600" cy="904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34950" lvl="0" marL="2349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D6017"/>
              </a:buClr>
              <a:buSzPts val="990"/>
              <a:buFont typeface="Noto Sans Symbols"/>
              <a:buChar char="✓"/>
            </a:pPr>
            <a:r>
              <a:rPr b="1" lang="zh-C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项目组织架构及职责</a:t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4950" lvl="0" marL="2349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D6017"/>
              </a:buClr>
              <a:buSzPts val="990"/>
              <a:buFont typeface="Noto Sans Symbols"/>
              <a:buChar char="✓"/>
            </a:pPr>
            <a:r>
              <a:rPr b="1" lang="zh-C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项目章程规划</a:t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4950" lvl="0" marL="2349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D6017"/>
              </a:buClr>
              <a:buSzPts val="990"/>
              <a:buFont typeface="Noto Sans Symbols"/>
              <a:buChar char="✓"/>
            </a:pPr>
            <a:r>
              <a:rPr b="1" lang="zh-C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制定项目计划</a:t>
            </a:r>
            <a:endParaRPr/>
          </a:p>
        </p:txBody>
      </p:sp>
      <p:cxnSp>
        <p:nvCxnSpPr>
          <p:cNvPr id="122" name="Shape 122"/>
          <p:cNvCxnSpPr/>
          <p:nvPr/>
        </p:nvCxnSpPr>
        <p:spPr>
          <a:xfrm rot="10800000">
            <a:off x="4608513" y="3575113"/>
            <a:ext cx="0" cy="2417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3" name="Shape 123"/>
          <p:cNvCxnSpPr/>
          <p:nvPr/>
        </p:nvCxnSpPr>
        <p:spPr>
          <a:xfrm rot="10800000">
            <a:off x="6056313" y="2809875"/>
            <a:ext cx="0" cy="318135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24" name="Shape 124"/>
          <p:cNvSpPr txBox="1"/>
          <p:nvPr/>
        </p:nvSpPr>
        <p:spPr>
          <a:xfrm>
            <a:off x="1668463" y="3363913"/>
            <a:ext cx="12255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业务调研</a:t>
            </a:r>
            <a:endParaRPr/>
          </a:p>
        </p:txBody>
      </p:sp>
      <p:sp>
        <p:nvSpPr>
          <p:cNvPr id="125" name="Shape 125"/>
          <p:cNvSpPr txBox="1"/>
          <p:nvPr/>
        </p:nvSpPr>
        <p:spPr>
          <a:xfrm>
            <a:off x="1579563" y="4032250"/>
            <a:ext cx="1314450" cy="70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34950" lvl="0" marL="2349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D6017"/>
              </a:buClr>
              <a:buSzPts val="990"/>
              <a:buFont typeface="Noto Sans Symbols"/>
              <a:buChar char="✓"/>
            </a:pPr>
            <a:r>
              <a:rPr b="1" lang="zh-C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业务调研</a:t>
            </a:r>
            <a:endParaRPr/>
          </a:p>
          <a:p>
            <a:pPr indent="-234950" lvl="0" marL="2349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D6017"/>
              </a:buClr>
              <a:buSzPts val="990"/>
              <a:buFont typeface="Noto Sans Symbols"/>
              <a:buChar char="✓"/>
            </a:pPr>
            <a:r>
              <a:rPr b="1" lang="zh-C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现状业务分析</a:t>
            </a:r>
            <a:endParaRPr/>
          </a:p>
          <a:p>
            <a:pPr indent="-234950" lvl="0" marL="2349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D6017"/>
              </a:buClr>
              <a:buSzPts val="990"/>
              <a:buFont typeface="Noto Sans Symbols"/>
              <a:buChar char="✓"/>
            </a:pPr>
            <a:r>
              <a:rPr b="1" lang="zh-C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编写调研报告</a:t>
            </a:r>
            <a:endParaRPr/>
          </a:p>
        </p:txBody>
      </p:sp>
      <p:sp>
        <p:nvSpPr>
          <p:cNvPr id="126" name="Shape 126"/>
          <p:cNvSpPr txBox="1"/>
          <p:nvPr/>
        </p:nvSpPr>
        <p:spPr>
          <a:xfrm>
            <a:off x="3160713" y="3849688"/>
            <a:ext cx="12954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34950" lvl="0" marL="2349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Noto Sans Symbols"/>
              <a:buChar char="✓"/>
            </a:pPr>
            <a:r>
              <a:rPr b="1" lang="zh-C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讨论业务需求，形成业务蓝图</a:t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4950" lvl="0" marL="2349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Noto Sans Symbols"/>
              <a:buChar char="✓"/>
            </a:pPr>
            <a:r>
              <a:rPr b="1" lang="zh-C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编写蓝图设计</a:t>
            </a:r>
            <a:endParaRPr/>
          </a:p>
        </p:txBody>
      </p:sp>
      <p:cxnSp>
        <p:nvCxnSpPr>
          <p:cNvPr id="127" name="Shape 127"/>
          <p:cNvCxnSpPr/>
          <p:nvPr/>
        </p:nvCxnSpPr>
        <p:spPr>
          <a:xfrm rot="10800000">
            <a:off x="7504113" y="2560638"/>
            <a:ext cx="0" cy="340995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28" name="Shape 128"/>
          <p:cNvSpPr txBox="1"/>
          <p:nvPr/>
        </p:nvSpPr>
        <p:spPr>
          <a:xfrm>
            <a:off x="6056313" y="2460625"/>
            <a:ext cx="13271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上线准备</a:t>
            </a:r>
            <a:endParaRPr/>
          </a:p>
        </p:txBody>
      </p:sp>
      <p:sp>
        <p:nvSpPr>
          <p:cNvPr id="129" name="Shape 129"/>
          <p:cNvSpPr txBox="1"/>
          <p:nvPr/>
        </p:nvSpPr>
        <p:spPr>
          <a:xfrm>
            <a:off x="6107113" y="3030538"/>
            <a:ext cx="1320800" cy="904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34950" lvl="0" marL="2349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Noto Sans Symbols"/>
              <a:buChar char="✓"/>
            </a:pPr>
            <a:r>
              <a:rPr b="1" lang="zh-C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系统上线</a:t>
            </a:r>
            <a:endParaRPr/>
          </a:p>
          <a:p>
            <a:pPr indent="-234950" lvl="0" marL="2349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Noto Sans Symbols"/>
              <a:buChar char="✓"/>
            </a:pPr>
            <a:r>
              <a:rPr b="1" lang="zh-C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用户培训</a:t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4950" lvl="0" marL="2349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Noto Sans Symbols"/>
              <a:buChar char="✓"/>
            </a:pPr>
            <a:r>
              <a:rPr b="1" lang="zh-C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个性化报表</a:t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2085" lvl="0" marL="2349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Noto Sans Symbols"/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Shape 130"/>
          <p:cNvSpPr txBox="1"/>
          <p:nvPr/>
        </p:nvSpPr>
        <p:spPr>
          <a:xfrm>
            <a:off x="265113" y="1754188"/>
            <a:ext cx="895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实施内容</a:t>
            </a:r>
            <a:endParaRPr/>
          </a:p>
        </p:txBody>
      </p:sp>
      <p:sp>
        <p:nvSpPr>
          <p:cNvPr id="131" name="Shape 131"/>
          <p:cNvSpPr txBox="1"/>
          <p:nvPr/>
        </p:nvSpPr>
        <p:spPr>
          <a:xfrm>
            <a:off x="1147763" y="5999163"/>
            <a:ext cx="895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正式启动</a:t>
            </a:r>
            <a:endParaRPr/>
          </a:p>
        </p:txBody>
      </p:sp>
      <p:sp>
        <p:nvSpPr>
          <p:cNvPr id="132" name="Shape 132"/>
          <p:cNvSpPr txBox="1"/>
          <p:nvPr/>
        </p:nvSpPr>
        <p:spPr>
          <a:xfrm>
            <a:off x="2627313" y="6000750"/>
            <a:ext cx="903287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业务调研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Shape 133"/>
          <p:cNvSpPr txBox="1"/>
          <p:nvPr/>
        </p:nvSpPr>
        <p:spPr>
          <a:xfrm>
            <a:off x="4162425" y="6000750"/>
            <a:ext cx="903288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蓝图签署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Shape 134"/>
          <p:cNvSpPr txBox="1"/>
          <p:nvPr/>
        </p:nvSpPr>
        <p:spPr>
          <a:xfrm>
            <a:off x="5599113" y="6000750"/>
            <a:ext cx="903287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测试完成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Shape 135"/>
          <p:cNvSpPr txBox="1"/>
          <p:nvPr/>
        </p:nvSpPr>
        <p:spPr>
          <a:xfrm>
            <a:off x="1560513" y="2565877"/>
            <a:ext cx="1295400" cy="737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2018/1/16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2018/1/24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Shape 136"/>
          <p:cNvSpPr txBox="1"/>
          <p:nvPr/>
        </p:nvSpPr>
        <p:spPr>
          <a:xfrm>
            <a:off x="3084513" y="2421414"/>
            <a:ext cx="1295400" cy="737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2018/1/25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2018/2/10</a:t>
            </a:r>
            <a:endParaRPr/>
          </a:p>
        </p:txBody>
      </p:sp>
      <p:sp>
        <p:nvSpPr>
          <p:cNvPr id="137" name="Shape 137"/>
          <p:cNvSpPr txBox="1"/>
          <p:nvPr/>
        </p:nvSpPr>
        <p:spPr>
          <a:xfrm>
            <a:off x="6056313" y="1558608"/>
            <a:ext cx="1295400" cy="737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2018/5/26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2018/6/26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Shape 138"/>
          <p:cNvSpPr/>
          <p:nvPr/>
        </p:nvSpPr>
        <p:spPr>
          <a:xfrm>
            <a:off x="1611313" y="3751263"/>
            <a:ext cx="1282700" cy="2159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rotWithShape="0" algn="ctr" dir="2700000" dist="107763">
              <a:srgbClr val="808080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Shape 139"/>
          <p:cNvSpPr/>
          <p:nvPr/>
        </p:nvSpPr>
        <p:spPr>
          <a:xfrm>
            <a:off x="3084513" y="3582988"/>
            <a:ext cx="1325700" cy="2094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rotWithShape="0" algn="ctr" dir="2700000" dist="107763">
              <a:srgbClr val="808080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Shape 140"/>
          <p:cNvSpPr/>
          <p:nvPr/>
        </p:nvSpPr>
        <p:spPr>
          <a:xfrm>
            <a:off x="4662488" y="3297238"/>
            <a:ext cx="1209675" cy="211137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rotWithShape="0" algn="ctr" dir="2700000" dist="107763">
              <a:srgbClr val="808080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Shape 141"/>
          <p:cNvSpPr txBox="1"/>
          <p:nvPr/>
        </p:nvSpPr>
        <p:spPr>
          <a:xfrm>
            <a:off x="4648200" y="3702850"/>
            <a:ext cx="1331913" cy="9048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34950" lvl="0" marL="2349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Noto Sans Symbols"/>
              <a:buChar char="✓"/>
            </a:pPr>
            <a:r>
              <a:rPr b="1" lang="zh-C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安装开发机</a:t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4950" lvl="0" marL="2349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Noto Sans Symbols"/>
              <a:buChar char="✓"/>
            </a:pPr>
            <a:r>
              <a:rPr b="1" lang="zh-C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功能开发</a:t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4950" lvl="0" marL="2349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Noto Sans Symbols"/>
              <a:buChar char="✓"/>
            </a:pPr>
            <a:r>
              <a:rPr b="1" lang="zh-C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用户测试</a:t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4950" lvl="0" marL="2349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Noto Sans Symbols"/>
              <a:buChar char="✓"/>
            </a:pPr>
            <a:r>
              <a:rPr b="1" lang="zh-C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操作手册</a:t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Shape 142"/>
          <p:cNvSpPr txBox="1"/>
          <p:nvPr/>
        </p:nvSpPr>
        <p:spPr>
          <a:xfrm>
            <a:off x="4608513" y="2206308"/>
            <a:ext cx="1295400" cy="737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2018/2/22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2018/5/25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Shape 143"/>
          <p:cNvSpPr txBox="1"/>
          <p:nvPr/>
        </p:nvSpPr>
        <p:spPr>
          <a:xfrm>
            <a:off x="4608513" y="2989263"/>
            <a:ext cx="12636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系统实现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Shape 144"/>
          <p:cNvSpPr/>
          <p:nvPr/>
        </p:nvSpPr>
        <p:spPr>
          <a:xfrm>
            <a:off x="6176963" y="2767013"/>
            <a:ext cx="1152525" cy="206375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rotWithShape="0" algn="ctr" dir="2700000" dist="107763">
              <a:srgbClr val="808080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Shape 145"/>
          <p:cNvSpPr txBox="1"/>
          <p:nvPr/>
        </p:nvSpPr>
        <p:spPr>
          <a:xfrm>
            <a:off x="7478713" y="1198245"/>
            <a:ext cx="1295400" cy="737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2018/6/27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2018/7/27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Shape 146"/>
          <p:cNvSpPr txBox="1"/>
          <p:nvPr/>
        </p:nvSpPr>
        <p:spPr>
          <a:xfrm>
            <a:off x="7450138" y="2030413"/>
            <a:ext cx="13271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线外支持</a:t>
            </a:r>
            <a:endParaRPr/>
          </a:p>
        </p:txBody>
      </p:sp>
      <p:sp>
        <p:nvSpPr>
          <p:cNvPr id="147" name="Shape 147"/>
          <p:cNvSpPr/>
          <p:nvPr/>
        </p:nvSpPr>
        <p:spPr>
          <a:xfrm>
            <a:off x="7621588" y="2316163"/>
            <a:ext cx="1152525" cy="206375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rotWithShape="0" algn="ctr" dir="2700000" dist="107763">
              <a:srgbClr val="808080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Shape 148"/>
          <p:cNvSpPr txBox="1"/>
          <p:nvPr/>
        </p:nvSpPr>
        <p:spPr>
          <a:xfrm>
            <a:off x="7658100" y="2673350"/>
            <a:ext cx="13208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34950" lvl="0" marL="2349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Noto Sans Symbols"/>
              <a:buChar char="✓"/>
            </a:pPr>
            <a:r>
              <a:rPr b="1" lang="zh-C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运行总结</a:t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4950" lvl="0" marL="2349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Noto Sans Symbols"/>
              <a:buChar char="✓"/>
            </a:pPr>
            <a:r>
              <a:rPr b="1" lang="zh-C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线外支持</a:t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2085" lvl="0" marL="2349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Noto Sans Symbols"/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" name="Shape 149"/>
          <p:cNvCxnSpPr/>
          <p:nvPr/>
        </p:nvCxnSpPr>
        <p:spPr>
          <a:xfrm rot="10800000">
            <a:off x="8907463" y="2549525"/>
            <a:ext cx="0" cy="340995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50" name="Shape 150"/>
          <p:cNvSpPr txBox="1"/>
          <p:nvPr/>
        </p:nvSpPr>
        <p:spPr>
          <a:xfrm>
            <a:off x="6234113" y="4400550"/>
            <a:ext cx="10668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6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系统上线 </a:t>
            </a:r>
            <a:endParaRPr b="1" sz="1600">
              <a:solidFill>
                <a:srgbClr val="FF33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Shape 151"/>
          <p:cNvSpPr/>
          <p:nvPr/>
        </p:nvSpPr>
        <p:spPr>
          <a:xfrm>
            <a:off x="6572250" y="3908425"/>
            <a:ext cx="360363" cy="36195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Shape 152"/>
          <p:cNvSpPr txBox="1"/>
          <p:nvPr/>
        </p:nvSpPr>
        <p:spPr>
          <a:xfrm>
            <a:off x="36513" y="2978627"/>
            <a:ext cx="1676400" cy="737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2018/1/2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2018/1/15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 rotWithShape="1">
          <a:blip r:embed="rId3">
            <a:alphaModFix/>
          </a:blip>
          <a:stretch>
            <a:fillRect b="-999" l="0" r="0" t="-999"/>
          </a:stretch>
        </a:blip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:\Resource\WorkFile\客户资料\嘉联科技\LOGO.png" id="157" name="Shape 1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53788" y="116632"/>
            <a:ext cx="1790700" cy="749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Resource\WorkFile\朋乐\logoblur.png" id="158" name="Shape 1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16216" y="116632"/>
            <a:ext cx="2489200" cy="58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Shape 159"/>
          <p:cNvSpPr txBox="1"/>
          <p:nvPr/>
        </p:nvSpPr>
        <p:spPr>
          <a:xfrm>
            <a:off x="457200" y="54111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zh-C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项目整体状况</a:t>
            </a:r>
            <a:endParaRPr/>
          </a:p>
        </p:txBody>
      </p:sp>
      <p:graphicFrame>
        <p:nvGraphicFramePr>
          <p:cNvPr id="160" name="Shape 160"/>
          <p:cNvGraphicFramePr/>
          <p:nvPr/>
        </p:nvGraphicFramePr>
        <p:xfrm>
          <a:off x="179388" y="14682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{FF814D49-E344-4421-B8D2-399FFB197A0A}</a:tableStyleId>
              </a:tblPr>
              <a:tblGrid>
                <a:gridCol w="5400675"/>
                <a:gridCol w="865175"/>
                <a:gridCol w="863600"/>
                <a:gridCol w="792175"/>
                <a:gridCol w="792150"/>
              </a:tblGrid>
              <a:tr h="5044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zh-CN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项目状态指示</a:t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650" marB="45650" marR="91450" marL="9145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CB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zh-CN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绿灯</a:t>
                      </a:r>
                      <a:endParaRPr/>
                    </a:p>
                  </a:txBody>
                  <a:tcPr marT="45650" marB="4565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4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zh-CN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黄灯</a:t>
                      </a:r>
                      <a:endParaRPr/>
                    </a:p>
                  </a:txBody>
                  <a:tcPr marT="45650" marB="4565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4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zh-CN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红灯</a:t>
                      </a:r>
                      <a:endParaRPr/>
                    </a:p>
                  </a:txBody>
                  <a:tcPr marT="45650" marB="4565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4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zh-CN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空白</a:t>
                      </a:r>
                      <a:endParaRPr/>
                    </a:p>
                  </a:txBody>
                  <a:tcPr marT="45650" marB="4565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4D9"/>
                    </a:solidFill>
                  </a:tcPr>
                </a:tc>
              </a:tr>
              <a:tr h="8591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i="0" lang="zh-CN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绿灯 = 项目处于正常可控状态</a:t>
                      </a:r>
                      <a:endParaRPr b="1" i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i="0" lang="zh-CN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黄灯 = 出现问题，但不影响项目整体进度，需要及时解决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i="0" lang="zh-CN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红灯 = 出现重大问题，影响项目整体进度，需要立即解决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i="0" lang="zh-CN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空白 = 未开始或已结束</a:t>
                      </a:r>
                      <a:endParaRPr/>
                    </a:p>
                  </a:txBody>
                  <a:tcPr marT="45650" marB="45650" marR="91450" marL="9145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4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650" marB="4565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650" marB="4565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650" marB="4565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650" marB="4565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1" name="Shape 161"/>
          <p:cNvGraphicFramePr/>
          <p:nvPr/>
        </p:nvGraphicFramePr>
        <p:xfrm>
          <a:off x="169863" y="29207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{FF814D49-E344-4421-B8D2-399FFB197A0A}</a:tableStyleId>
              </a:tblPr>
              <a:tblGrid>
                <a:gridCol w="5395900"/>
                <a:gridCol w="868375"/>
                <a:gridCol w="865175"/>
                <a:gridCol w="795350"/>
                <a:gridCol w="808025"/>
              </a:tblGrid>
              <a:tr h="50482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1" i="0" lang="zh-CN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项目状态</a:t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CB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1" i="0" lang="zh-CN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绿灯</a:t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4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1" i="0" lang="zh-CN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黄灯</a:t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4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1" i="0" lang="zh-CN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红灯</a:t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4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1" i="0" lang="zh-CN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空白</a:t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4D9"/>
                    </a:solidFill>
                  </a:tcPr>
                </a:tc>
              </a:tr>
              <a:tr h="4754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r>
                        <a:rPr b="1" i="0" lang="zh-CN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项目整体情况</a:t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4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zh-CN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— 系统调研</a:t>
                      </a:r>
                      <a:endParaRPr/>
                    </a:p>
                  </a:txBody>
                  <a:tcPr marT="45700" marB="45700" marR="91450" marL="9145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4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350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zh-CN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— 业务蓝图设计</a:t>
                      </a:r>
                      <a:endParaRPr/>
                    </a:p>
                  </a:txBody>
                  <a:tcPr marT="45700" marB="45700" marR="91450" marL="9145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4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zh-CN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— 系统实现</a:t>
                      </a:r>
                      <a:endParaRPr/>
                    </a:p>
                  </a:txBody>
                  <a:tcPr marT="45700" marB="45700" marR="91450" marL="9145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4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zh-CN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— 系统上线</a:t>
                      </a:r>
                      <a:endParaRPr/>
                    </a:p>
                  </a:txBody>
                  <a:tcPr marT="45700" marB="45700" marR="91450" marL="9145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4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Alert Caution" id="162" name="Shape 16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54813" y="2338162"/>
            <a:ext cx="261937" cy="2619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lert Stop 2" id="163" name="Shape 16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73963" y="2323874"/>
            <a:ext cx="287337" cy="2873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rust" id="164" name="Shape 16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4225" y="2322287"/>
            <a:ext cx="287338" cy="287337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Shape 165"/>
          <p:cNvSpPr/>
          <p:nvPr/>
        </p:nvSpPr>
        <p:spPr>
          <a:xfrm>
            <a:off x="8358188" y="2369912"/>
            <a:ext cx="209550" cy="219075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925" lIns="81850" spcFirstLastPara="1" rIns="81850" wrap="square" tIns="4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Shape 166"/>
          <p:cNvSpPr/>
          <p:nvPr/>
        </p:nvSpPr>
        <p:spPr>
          <a:xfrm>
            <a:off x="8393113" y="5644607"/>
            <a:ext cx="209400" cy="21900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925" lIns="81850" spcFirstLastPara="1" rIns="81850" wrap="square" tIns="4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rust" id="167" name="Shape 16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70482" y="3501008"/>
            <a:ext cx="287338" cy="2873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rust" id="168" name="Shape 16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4225" y="4020277"/>
            <a:ext cx="287338" cy="2873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rust" id="169" name="Shape 16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4225" y="4611452"/>
            <a:ext cx="287338" cy="2873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rust" id="170" name="Shape 17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70475" y="5092552"/>
            <a:ext cx="287338" cy="287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 rotWithShape="1">
          <a:blip r:embed="rId3">
            <a:alphaModFix/>
          </a:blip>
          <a:stretch>
            <a:fillRect b="-999" l="0" r="0" t="-999"/>
          </a:stretch>
        </a:blip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:\Resource\WorkFile\客户资料\嘉联科技\LOGO.png" id="175" name="Shape 1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53788" y="116632"/>
            <a:ext cx="1790700" cy="749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Resource\WorkFile\朋乐\logoblur.png" id="176" name="Shape 17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16216" y="116632"/>
            <a:ext cx="2489200" cy="58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Shape 177"/>
          <p:cNvSpPr txBox="1"/>
          <p:nvPr/>
        </p:nvSpPr>
        <p:spPr>
          <a:xfrm>
            <a:off x="457200" y="701824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zh-C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上周主要工作进展</a:t>
            </a:r>
            <a:endParaRPr/>
          </a:p>
        </p:txBody>
      </p:sp>
      <p:sp>
        <p:nvSpPr>
          <p:cNvPr id="178" name="Shape 178"/>
          <p:cNvSpPr txBox="1"/>
          <p:nvPr/>
        </p:nvSpPr>
        <p:spPr>
          <a:xfrm>
            <a:off x="457200" y="1696234"/>
            <a:ext cx="8229600" cy="4751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后端开发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文件上传、下载API对接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角色、菜单等功能设置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审核流程修改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风险管理系统基础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客诉功能调整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前端开发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平台细节、错误修复(80%)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供应链平台UI项目合并(100%)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上传&amp;下载功能对接(70%)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客诉功能重做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搜索功能、分页功能对接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待办事项对接(50%)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 rotWithShape="1">
          <a:blip r:embed="rId3">
            <a:alphaModFix/>
          </a:blip>
          <a:stretch>
            <a:fillRect b="-999" l="0" r="0" t="-999"/>
          </a:stretch>
        </a:blip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:\Resource\WorkFile\客户资料\嘉联科技\LOGO.png" id="183" name="Shape 1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53788" y="116632"/>
            <a:ext cx="1790700" cy="749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Resource\WorkFile\朋乐\logoblur.png" id="184" name="Shape 18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16216" y="116632"/>
            <a:ext cx="2489200" cy="58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Shape 185"/>
          <p:cNvSpPr txBox="1"/>
          <p:nvPr/>
        </p:nvSpPr>
        <p:spPr>
          <a:xfrm>
            <a:off x="457200" y="701824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zh-C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本周主要工作计划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Shape 186"/>
          <p:cNvSpPr txBox="1"/>
          <p:nvPr/>
        </p:nvSpPr>
        <p:spPr>
          <a:xfrm>
            <a:off x="457200" y="1701949"/>
            <a:ext cx="8229600" cy="4751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后端开发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供应商API对接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产品API对接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角色、菜单等功能设置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风险管理系统定时器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前端开发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平台细节、错误修复(100%)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审核流程修改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上传&amp;下载功能对接(100%)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搜索功能、分页功能对接(100%)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待办事项对接(100%)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风险管理信息录入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QA测试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 rotWithShape="1">
          <a:blip r:embed="rId3">
            <a:alphaModFix/>
          </a:blip>
          <a:stretch>
            <a:fillRect b="-999" l="0" r="0" t="-999"/>
          </a:stretch>
        </a:blip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:\Resource\WorkFile\客户资料\嘉联科技\LOGO.png" id="191" name="Shape 19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53788" y="116632"/>
            <a:ext cx="1790700" cy="749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Resource\WorkFile\朋乐\logoblur.png" id="192" name="Shape 19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16216" y="116632"/>
            <a:ext cx="2489200" cy="58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Shape 193"/>
          <p:cNvSpPr txBox="1"/>
          <p:nvPr/>
        </p:nvSpPr>
        <p:spPr>
          <a:xfrm>
            <a:off x="457200" y="77333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zh-CN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需要沟通协调的事项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Shape 194"/>
          <p:cNvSpPr txBox="1"/>
          <p:nvPr/>
        </p:nvSpPr>
        <p:spPr>
          <a:xfrm>
            <a:off x="323850" y="1773461"/>
            <a:ext cx="8640763" cy="38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zh-C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产品CPK,GRR获取参数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