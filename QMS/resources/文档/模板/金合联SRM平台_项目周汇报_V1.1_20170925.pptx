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6" autoAdjust="0"/>
    <p:restoredTop sz="94660"/>
  </p:normalViewPr>
  <p:slideViewPr>
    <p:cSldViewPr>
      <p:cViewPr varScale="1">
        <p:scale>
          <a:sx n="71" d="100"/>
          <a:sy n="71" d="100"/>
        </p:scale>
        <p:origin x="-133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2017-09-25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Resource\WorkFile\客户资料\嘉联科技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88" y="116632"/>
            <a:ext cx="17907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Resource\WorkFile\朋乐\logoblu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16632"/>
            <a:ext cx="2489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19672" y="2164378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Arial" pitchFamily="34" charset="0"/>
                <a:cs typeface="Arial" pitchFamily="34" charset="0"/>
              </a:rPr>
              <a:t>深圳市金合联供应链技术有限公司</a:t>
            </a:r>
            <a:endParaRPr lang="zh-CN" alt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35896" y="334218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项目周汇报</a:t>
            </a:r>
            <a:endParaRPr lang="zh-CN" alt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350561" y="4437112"/>
            <a:ext cx="2294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SRM</a:t>
            </a:r>
            <a:r>
              <a:rPr lang="zh-CN" altLang="en-US" sz="2400" dirty="0" smtClean="0"/>
              <a:t>平台项目组</a:t>
            </a:r>
            <a:endParaRPr lang="zh-CN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762494" y="4898777"/>
            <a:ext cx="1529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/>
              <a:t>2017</a:t>
            </a:r>
            <a:r>
              <a:rPr lang="zh-CN" altLang="en-US" sz="1600" dirty="0" smtClean="0"/>
              <a:t>年</a:t>
            </a:r>
            <a:r>
              <a:rPr lang="en-US" altLang="zh-CN" sz="1600" dirty="0" smtClean="0"/>
              <a:t>9</a:t>
            </a:r>
            <a:r>
              <a:rPr lang="zh-CN" altLang="en-US" sz="1600" dirty="0" smtClean="0"/>
              <a:t>月</a:t>
            </a:r>
            <a:r>
              <a:rPr lang="en-US" altLang="zh-CN" sz="1600" dirty="0" smtClean="0"/>
              <a:t>25</a:t>
            </a:r>
            <a:r>
              <a:rPr lang="zh-CN" altLang="en-US" sz="1600" dirty="0" smtClean="0"/>
              <a:t>日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9728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Resource\WorkFile\客户资料\嘉联科技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88" y="116632"/>
            <a:ext cx="17907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Resource\WorkFile\朋乐\logoblu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16632"/>
            <a:ext cx="2489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395536" y="7904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2800" smtClean="0"/>
              <a:t>目录</a:t>
            </a:r>
            <a:endParaRPr lang="zh-CN" sz="2800" dirty="0" smtClean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95536" y="185405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rgbClr val="0070C0"/>
              </a:buClr>
              <a:buFont typeface="Wingdings" pitchFamily="2" charset="2"/>
              <a:buChar char="§"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上周项目组总体汇报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70C0"/>
              </a:buClr>
              <a:buFont typeface="Wingdings" pitchFamily="2" charset="2"/>
              <a:buChar char="§"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本周总体工作安排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70C0"/>
              </a:buClr>
              <a:buFont typeface="Wingdings" pitchFamily="2" charset="2"/>
              <a:buChar char="§"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需要沟通协调的事项</a:t>
            </a:r>
            <a:endParaRPr lang="en-US" sz="24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70C0"/>
              </a:buClr>
              <a:buFont typeface="Wingdings" pitchFamily="2" charset="2"/>
              <a:buChar char="§"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其他</a:t>
            </a:r>
          </a:p>
        </p:txBody>
      </p:sp>
    </p:spTree>
    <p:extLst>
      <p:ext uri="{BB962C8B-B14F-4D97-AF65-F5344CB8AC3E}">
        <p14:creationId xmlns:p14="http://schemas.microsoft.com/office/powerpoint/2010/main" val="155219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Resource\WorkFile\客户资料\嘉联科技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88" y="116632"/>
            <a:ext cx="17907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Resource\WorkFile\朋乐\logoblu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16632"/>
            <a:ext cx="2489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-21197" y="45533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2800" dirty="0" smtClean="0"/>
              <a:t>             </a:t>
            </a:r>
            <a:r>
              <a:rPr lang="zh-CN" sz="2800" dirty="0" smtClean="0"/>
              <a:t>项目阶段：</a:t>
            </a:r>
            <a:r>
              <a:rPr lang="zh-CN" altLang="en-US" sz="2800" dirty="0" smtClean="0"/>
              <a:t>系统上线</a:t>
            </a:r>
            <a:endParaRPr lang="zh-CN" sz="2800" dirty="0" smtClean="0"/>
          </a:p>
        </p:txBody>
      </p:sp>
      <p:grpSp>
        <p:nvGrpSpPr>
          <p:cNvPr id="5" name="组合 56"/>
          <p:cNvGrpSpPr>
            <a:grpSpLocks/>
          </p:cNvGrpSpPr>
          <p:nvPr/>
        </p:nvGrpSpPr>
        <p:grpSpPr bwMode="auto">
          <a:xfrm>
            <a:off x="6871543" y="3089146"/>
            <a:ext cx="1012825" cy="3762375"/>
            <a:chOff x="0" y="0"/>
            <a:chExt cx="1012825" cy="3762115"/>
          </a:xfrm>
        </p:grpSpPr>
        <p:cxnSp>
          <p:nvCxnSpPr>
            <p:cNvPr id="6" name="Straight Connector 132"/>
            <p:cNvCxnSpPr>
              <a:cxnSpLocks noChangeShapeType="1"/>
            </p:cNvCxnSpPr>
            <p:nvPr/>
          </p:nvCxnSpPr>
          <p:spPr bwMode="auto">
            <a:xfrm flipH="1" flipV="1">
              <a:off x="364753" y="0"/>
              <a:ext cx="1" cy="338032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" name="TextBox 130"/>
            <p:cNvSpPr txBox="1">
              <a:spLocks noChangeArrowheads="1"/>
            </p:cNvSpPr>
            <p:nvPr/>
          </p:nvSpPr>
          <p:spPr bwMode="auto">
            <a:xfrm>
              <a:off x="0" y="3423978"/>
              <a:ext cx="1012825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70000"/>
                </a:spcBef>
                <a:buClr>
                  <a:schemeClr val="folHlink"/>
                </a:buClr>
                <a:buSzPct val="120000"/>
                <a:buFont typeface="Times" pitchFamily="2" charset="0"/>
                <a:buNone/>
              </a:pPr>
              <a:r>
                <a:rPr lang="zh-CN" altLang="en-US" sz="1600" b="1" dirty="0">
                  <a:solidFill>
                    <a:srgbClr val="FF0000"/>
                  </a:solidFill>
                  <a:latin typeface="宋体" pitchFamily="2" charset="-122"/>
                  <a:ea typeface="LF_Kai"/>
                  <a:cs typeface="LF_Kai"/>
                </a:rPr>
                <a:t>当前进度</a:t>
              </a: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046913" y="5970588"/>
            <a:ext cx="9032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上线切换</a:t>
            </a:r>
            <a:endParaRPr lang="en-US" altLang="zh-CN" sz="14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187325" y="1754188"/>
            <a:ext cx="1588" cy="421005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 type="triangle" w="med" len="med"/>
            <a:tailEnd/>
          </a:ln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+mn-lt"/>
              <a:ea typeface="+mn-ea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187325" y="5959475"/>
            <a:ext cx="8863013" cy="95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 type="triangle" w="med" len="med"/>
          </a:ln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+mn-lt"/>
              <a:ea typeface="+mn-ea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265113" y="4135438"/>
            <a:ext cx="1098550" cy="2095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3122613" y="3754438"/>
            <a:ext cx="0" cy="22288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+mn-lt"/>
              <a:ea typeface="+mn-ea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289300" y="3200400"/>
            <a:ext cx="903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蓝图设计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8383962" y="564929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时间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417513" y="3752850"/>
            <a:ext cx="9032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项目准备</a:t>
            </a:r>
            <a:endParaRPr lang="en-US" altLang="zh-CN" sz="14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H="1" flipV="1">
            <a:off x="1560513" y="4071938"/>
            <a:ext cx="0" cy="18986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+mn-lt"/>
              <a:ea typeface="+mn-ea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188913" y="4483100"/>
            <a:ext cx="13716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4950" indent="-2349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7D6017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项目组织架构及职责</a:t>
            </a:r>
            <a:endParaRPr lang="en-US" altLang="zh-CN" sz="11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7D6017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项目章程规划</a:t>
            </a:r>
            <a:endParaRPr lang="en-US" altLang="zh-CN" sz="11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7D6017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制定项目计划</a:t>
            </a:r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V="1">
            <a:off x="4608513" y="3575050"/>
            <a:ext cx="0" cy="2417763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+mn-lt"/>
              <a:ea typeface="+mn-ea"/>
            </a:endParaRPr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 flipV="1">
            <a:off x="6056313" y="2809875"/>
            <a:ext cx="0" cy="31813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+mn-lt"/>
              <a:ea typeface="+mn-ea"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1668463" y="3363913"/>
            <a:ext cx="1225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业务调研</a:t>
            </a:r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1579563" y="4032250"/>
            <a:ext cx="13144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4950" indent="-2349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7D6017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业务调研</a:t>
            </a:r>
          </a:p>
          <a:p>
            <a:pPr eaLnBrk="1" hangingPunct="1">
              <a:lnSpc>
                <a:spcPct val="120000"/>
              </a:lnSpc>
              <a:buClr>
                <a:srgbClr val="7D6017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现状业务分析</a:t>
            </a:r>
          </a:p>
          <a:p>
            <a:pPr eaLnBrk="1" hangingPunct="1">
              <a:lnSpc>
                <a:spcPct val="120000"/>
              </a:lnSpc>
              <a:buClr>
                <a:srgbClr val="7D6017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编写调研报告</a:t>
            </a:r>
          </a:p>
        </p:txBody>
      </p: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3160713" y="3849688"/>
            <a:ext cx="1295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4950" indent="-2349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讨论业务需求，形成业务蓝图</a:t>
            </a:r>
            <a:endParaRPr lang="en-US" altLang="zh-CN" sz="11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编写蓝图设计</a:t>
            </a:r>
          </a:p>
        </p:txBody>
      </p:sp>
      <p:sp>
        <p:nvSpPr>
          <p:cNvPr id="23" name="Line 28"/>
          <p:cNvSpPr>
            <a:spLocks noChangeShapeType="1"/>
          </p:cNvSpPr>
          <p:nvPr/>
        </p:nvSpPr>
        <p:spPr bwMode="auto">
          <a:xfrm flipV="1">
            <a:off x="7504113" y="2560638"/>
            <a:ext cx="0" cy="34099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+mn-lt"/>
              <a:ea typeface="+mn-ea"/>
            </a:endParaRPr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6056313" y="2460625"/>
            <a:ext cx="1327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上线准备</a:t>
            </a:r>
          </a:p>
        </p:txBody>
      </p:sp>
      <p:sp>
        <p:nvSpPr>
          <p:cNvPr id="25" name="Text Box 30"/>
          <p:cNvSpPr txBox="1">
            <a:spLocks noChangeArrowheads="1"/>
          </p:cNvSpPr>
          <p:nvPr/>
        </p:nvSpPr>
        <p:spPr bwMode="auto">
          <a:xfrm>
            <a:off x="6107113" y="3030538"/>
            <a:ext cx="13208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4950" indent="-2349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上线</a:t>
            </a:r>
            <a:endParaRPr lang="zh-CN" altLang="en-US" sz="11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用户培训</a:t>
            </a:r>
            <a:endParaRPr lang="en-US" altLang="zh-CN" sz="11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个性化报表</a:t>
            </a:r>
            <a:endParaRPr lang="en-US" altLang="zh-CN" sz="11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endParaRPr lang="zh-CN" altLang="en-US" sz="11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6" name="Text Box 31"/>
          <p:cNvSpPr txBox="1">
            <a:spLocks noChangeArrowheads="1"/>
          </p:cNvSpPr>
          <p:nvPr/>
        </p:nvSpPr>
        <p:spPr bwMode="auto">
          <a:xfrm>
            <a:off x="265113" y="1754188"/>
            <a:ext cx="89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zh-CN" altLang="en-US" sz="1400" b="1">
                <a:latin typeface="微软雅黑" pitchFamily="34" charset="-122"/>
                <a:ea typeface="微软雅黑" pitchFamily="34" charset="-122"/>
              </a:rPr>
              <a:t>实施内容</a:t>
            </a:r>
          </a:p>
        </p:txBody>
      </p:sp>
      <p:sp>
        <p:nvSpPr>
          <p:cNvPr id="27" name="Text Box 32"/>
          <p:cNvSpPr txBox="1">
            <a:spLocks noChangeArrowheads="1"/>
          </p:cNvSpPr>
          <p:nvPr/>
        </p:nvSpPr>
        <p:spPr bwMode="auto">
          <a:xfrm>
            <a:off x="1147763" y="5999163"/>
            <a:ext cx="89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正式启动</a:t>
            </a:r>
          </a:p>
        </p:txBody>
      </p:sp>
      <p:sp>
        <p:nvSpPr>
          <p:cNvPr id="28" name="Text Box 33"/>
          <p:cNvSpPr txBox="1">
            <a:spLocks noChangeArrowheads="1"/>
          </p:cNvSpPr>
          <p:nvPr/>
        </p:nvSpPr>
        <p:spPr bwMode="auto">
          <a:xfrm>
            <a:off x="2627313" y="6000750"/>
            <a:ext cx="9032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业务调研</a:t>
            </a:r>
            <a:endParaRPr lang="en-US" altLang="zh-CN" sz="14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4162425" y="6000750"/>
            <a:ext cx="903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蓝图签署</a:t>
            </a:r>
            <a:endParaRPr lang="en-US" altLang="zh-CN" sz="14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5599113" y="6000750"/>
            <a:ext cx="9032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测试完成</a:t>
            </a:r>
            <a:endParaRPr lang="en-US" altLang="zh-CN" sz="14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1" name="Text Box 42"/>
          <p:cNvSpPr txBox="1">
            <a:spLocks noChangeArrowheads="1"/>
          </p:cNvSpPr>
          <p:nvPr/>
        </p:nvSpPr>
        <p:spPr bwMode="auto">
          <a:xfrm>
            <a:off x="1560513" y="2565400"/>
            <a:ext cx="12954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2017/5/16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ctr" eaLnBrk="1" hangingPunct="1"/>
            <a:r>
              <a:rPr lang="en-US" altLang="zh-CN" sz="1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</a:t>
            </a:r>
          </a:p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2017/5/24</a:t>
            </a:r>
            <a:endParaRPr lang="zh-CN" altLang="en-US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2" name="Text Box 43"/>
          <p:cNvSpPr txBox="1">
            <a:spLocks noChangeArrowheads="1"/>
          </p:cNvSpPr>
          <p:nvPr/>
        </p:nvSpPr>
        <p:spPr bwMode="auto">
          <a:xfrm>
            <a:off x="3084513" y="2420938"/>
            <a:ext cx="12954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2017/5/25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ctr" eaLnBrk="1" hangingPunct="1"/>
            <a:r>
              <a:rPr lang="en-US" altLang="zh-CN" sz="1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</a:t>
            </a:r>
          </a:p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2017/6/10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3" name="Text Box 45"/>
          <p:cNvSpPr txBox="1">
            <a:spLocks noChangeArrowheads="1"/>
          </p:cNvSpPr>
          <p:nvPr/>
        </p:nvSpPr>
        <p:spPr bwMode="auto">
          <a:xfrm>
            <a:off x="6056313" y="1557338"/>
            <a:ext cx="12954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2017/9/1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ctr" eaLnBrk="1" hangingPunct="1"/>
            <a:r>
              <a:rPr lang="en-US" altLang="zh-CN" sz="1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</a:t>
            </a:r>
          </a:p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2017/09/30</a:t>
            </a:r>
            <a:endParaRPr lang="zh-CN" altLang="en-US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4" name="Rectangle 11"/>
          <p:cNvSpPr>
            <a:spLocks noChangeArrowheads="1"/>
          </p:cNvSpPr>
          <p:nvPr/>
        </p:nvSpPr>
        <p:spPr bwMode="auto">
          <a:xfrm>
            <a:off x="1611313" y="3751263"/>
            <a:ext cx="1282700" cy="2159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Rectangle 11"/>
          <p:cNvSpPr>
            <a:spLocks noChangeArrowheads="1"/>
          </p:cNvSpPr>
          <p:nvPr/>
        </p:nvSpPr>
        <p:spPr bwMode="auto">
          <a:xfrm>
            <a:off x="3084513" y="3582988"/>
            <a:ext cx="1325562" cy="2095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Rectangle 11"/>
          <p:cNvSpPr>
            <a:spLocks noChangeArrowheads="1"/>
          </p:cNvSpPr>
          <p:nvPr/>
        </p:nvSpPr>
        <p:spPr bwMode="auto">
          <a:xfrm>
            <a:off x="4662488" y="3297238"/>
            <a:ext cx="1209675" cy="211137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4648200" y="3602038"/>
            <a:ext cx="1331913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4950" indent="-2349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安装开发机</a:t>
            </a:r>
            <a:endParaRPr lang="en-US" altLang="zh-CN" sz="11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功能开发</a:t>
            </a:r>
            <a:endParaRPr lang="en-US" altLang="zh-CN" sz="11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en-US" altLang="zh-CN" sz="11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ERP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对接</a:t>
            </a:r>
            <a:endParaRPr lang="en-US" altLang="zh-CN" sz="11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用户测试</a:t>
            </a:r>
            <a:endParaRPr lang="en-US" altLang="zh-CN" sz="11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操作手册</a:t>
            </a:r>
            <a:endParaRPr lang="en-US" altLang="zh-CN" sz="11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8" name="Text Box 44"/>
          <p:cNvSpPr txBox="1">
            <a:spLocks noChangeArrowheads="1"/>
          </p:cNvSpPr>
          <p:nvPr/>
        </p:nvSpPr>
        <p:spPr bwMode="auto">
          <a:xfrm>
            <a:off x="4608513" y="2205038"/>
            <a:ext cx="12954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2017/6/11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ctr" eaLnBrk="1" hangingPunct="1"/>
            <a:r>
              <a:rPr lang="en-US" altLang="zh-CN" sz="1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</a:t>
            </a:r>
          </a:p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2017/8/31</a:t>
            </a:r>
            <a:endParaRPr lang="zh-CN" altLang="en-US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9" name="Text Box 14"/>
          <p:cNvSpPr txBox="1">
            <a:spLocks noChangeArrowheads="1"/>
          </p:cNvSpPr>
          <p:nvPr/>
        </p:nvSpPr>
        <p:spPr bwMode="auto">
          <a:xfrm>
            <a:off x="4608513" y="2989263"/>
            <a:ext cx="1263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系统实现</a:t>
            </a:r>
            <a:endParaRPr lang="en-US" altLang="zh-CN" sz="14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0" name="Rectangle 11"/>
          <p:cNvSpPr>
            <a:spLocks noChangeArrowheads="1"/>
          </p:cNvSpPr>
          <p:nvPr/>
        </p:nvSpPr>
        <p:spPr bwMode="auto">
          <a:xfrm>
            <a:off x="6176963" y="2767013"/>
            <a:ext cx="1152525" cy="20637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 Box 45"/>
          <p:cNvSpPr txBox="1">
            <a:spLocks noChangeArrowheads="1"/>
          </p:cNvSpPr>
          <p:nvPr/>
        </p:nvSpPr>
        <p:spPr bwMode="auto">
          <a:xfrm>
            <a:off x="7478713" y="1196975"/>
            <a:ext cx="12954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2017/10/1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ctr" eaLnBrk="1" hangingPunct="1"/>
            <a:r>
              <a:rPr lang="en-US" altLang="zh-CN" sz="1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</a:t>
            </a:r>
          </a:p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2018/9/30</a:t>
            </a:r>
            <a:endParaRPr lang="zh-CN" altLang="en-US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2" name="Text Box 29"/>
          <p:cNvSpPr txBox="1">
            <a:spLocks noChangeArrowheads="1"/>
          </p:cNvSpPr>
          <p:nvPr/>
        </p:nvSpPr>
        <p:spPr bwMode="auto">
          <a:xfrm>
            <a:off x="7450138" y="2030413"/>
            <a:ext cx="1327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线外支持</a:t>
            </a: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7621588" y="2316163"/>
            <a:ext cx="1152525" cy="20637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 Box 30"/>
          <p:cNvSpPr txBox="1">
            <a:spLocks noChangeArrowheads="1"/>
          </p:cNvSpPr>
          <p:nvPr/>
        </p:nvSpPr>
        <p:spPr bwMode="auto">
          <a:xfrm>
            <a:off x="7658100" y="2673350"/>
            <a:ext cx="1320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4950" indent="-2349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运行总结</a:t>
            </a:r>
            <a:endParaRPr lang="en-US" altLang="zh-CN" sz="11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r>
              <a:rPr lang="zh-CN" altLang="en-US" sz="1100" b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线外支持</a:t>
            </a:r>
            <a:endParaRPr lang="en-US" altLang="zh-CN" sz="11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000000"/>
              </a:buClr>
              <a:buSzPct val="90000"/>
              <a:buFont typeface="Wingdings" pitchFamily="2" charset="2"/>
              <a:buChar char="ü"/>
            </a:pPr>
            <a:endParaRPr lang="zh-CN" altLang="en-US" sz="1100" b="1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5" name="Line 28"/>
          <p:cNvSpPr>
            <a:spLocks noChangeShapeType="1"/>
          </p:cNvSpPr>
          <p:nvPr/>
        </p:nvSpPr>
        <p:spPr bwMode="auto">
          <a:xfrm flipV="1">
            <a:off x="8907463" y="2549525"/>
            <a:ext cx="0" cy="34099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latin typeface="+mn-lt"/>
              <a:ea typeface="+mn-ea"/>
            </a:endParaRPr>
          </a:p>
        </p:txBody>
      </p:sp>
      <p:sp>
        <p:nvSpPr>
          <p:cNvPr id="46" name="Text Box 89"/>
          <p:cNvSpPr txBox="1">
            <a:spLocks noChangeArrowheads="1"/>
          </p:cNvSpPr>
          <p:nvPr/>
        </p:nvSpPr>
        <p:spPr bwMode="auto">
          <a:xfrm>
            <a:off x="6234113" y="4400550"/>
            <a:ext cx="1066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1600" b="1">
                <a:solidFill>
                  <a:srgbClr val="FF3300"/>
                </a:solidFill>
                <a:latin typeface="楷体_GB2312"/>
                <a:ea typeface="楷体_GB2312"/>
                <a:cs typeface="楷体_GB2312"/>
              </a:rPr>
              <a:t>系统上线 </a:t>
            </a:r>
            <a:endParaRPr lang="en-US" altLang="zh-CN" sz="1600" b="1">
              <a:solidFill>
                <a:srgbClr val="FF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7" name="AutoShape 97"/>
          <p:cNvSpPr>
            <a:spLocks noChangeArrowheads="1"/>
          </p:cNvSpPr>
          <p:nvPr/>
        </p:nvSpPr>
        <p:spPr bwMode="auto">
          <a:xfrm>
            <a:off x="6572250" y="3908425"/>
            <a:ext cx="360363" cy="361950"/>
          </a:xfrm>
          <a:prstGeom prst="star5">
            <a:avLst/>
          </a:prstGeom>
          <a:solidFill>
            <a:srgbClr val="FF0000"/>
          </a:solidFill>
          <a:ln w="1905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lnSpc>
                <a:spcPts val="2000"/>
              </a:lnSpc>
              <a:spcAft>
                <a:spcPct val="25000"/>
              </a:spcAft>
              <a:buClr>
                <a:schemeClr val="accent2"/>
              </a:buClr>
              <a:buFont typeface="Wingdings" pitchFamily="2" charset="2"/>
              <a:buNone/>
              <a:defRPr/>
            </a:pPr>
            <a:endParaRPr lang="en-US" altLang="zh-CN" sz="20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" name="Text Box 41"/>
          <p:cNvSpPr txBox="1">
            <a:spLocks noChangeArrowheads="1"/>
          </p:cNvSpPr>
          <p:nvPr/>
        </p:nvSpPr>
        <p:spPr bwMode="auto">
          <a:xfrm>
            <a:off x="36513" y="2978150"/>
            <a:ext cx="16764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2017/5/1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algn="ctr" eaLnBrk="1" hangingPunct="1"/>
            <a:r>
              <a:rPr lang="en-US" altLang="zh-CN" sz="1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</a:t>
            </a:r>
          </a:p>
          <a:p>
            <a:pPr algn="ctr" eaLnBrk="1" hangingPunct="1"/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2017/5/15</a:t>
            </a:r>
            <a:endParaRPr lang="zh-CN" altLang="en-US" sz="1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56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Resource\WorkFile\客户资料\嘉联科技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88" y="116632"/>
            <a:ext cx="17907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Resource\WorkFile\朋乐\logoblu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16632"/>
            <a:ext cx="2489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457200" y="5411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2800" smtClean="0"/>
              <a:t>项目整体状况</a:t>
            </a:r>
          </a:p>
        </p:txBody>
      </p:sp>
      <p:graphicFrame>
        <p:nvGraphicFramePr>
          <p:cNvPr id="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634668"/>
              </p:ext>
            </p:extLst>
          </p:nvPr>
        </p:nvGraphicFramePr>
        <p:xfrm>
          <a:off x="179388" y="1468212"/>
          <a:ext cx="8713787" cy="1363852"/>
        </p:xfrm>
        <a:graphic>
          <a:graphicData uri="http://schemas.openxmlformats.org/drawingml/2006/table">
            <a:tbl>
              <a:tblPr/>
              <a:tblGrid>
                <a:gridCol w="5400675"/>
                <a:gridCol w="865187"/>
                <a:gridCol w="863600"/>
                <a:gridCol w="792163"/>
                <a:gridCol w="792162"/>
              </a:tblGrid>
              <a:tr h="5044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项目状态指示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38" marB="4563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DC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绿灯</a:t>
                      </a:r>
                    </a:p>
                  </a:txBody>
                  <a:tcPr marT="45638" marB="4563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黄灯</a:t>
                      </a:r>
                    </a:p>
                  </a:txBody>
                  <a:tcPr marT="45638" marB="4563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红灯</a:t>
                      </a:r>
                    </a:p>
                  </a:txBody>
                  <a:tcPr marT="45638" marB="4563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空白</a:t>
                      </a:r>
                    </a:p>
                  </a:txBody>
                  <a:tcPr marT="45638" marB="4563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</a:tr>
              <a:tr h="8591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绿灯</a:t>
                      </a:r>
                      <a:r>
                        <a:rPr kumimoji="0" lang="zh-TW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 </a:t>
                      </a:r>
                      <a:r>
                        <a:rPr kumimoji="0" lang="zh-TW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项目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处于正常可控状态</a:t>
                      </a:r>
                      <a:endParaRPr kumimoji="0" lang="zh-TW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黄灯</a:t>
                      </a:r>
                      <a:r>
                        <a:rPr kumimoji="0" lang="zh-TW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 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出现问题，但不影响项目整体进度，需要及时解决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红灯</a:t>
                      </a:r>
                      <a:r>
                        <a:rPr kumimoji="0" lang="zh-TW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 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出现重大问题，影响项目整体进度，需要立即解决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空白 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 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未开始或已结束</a:t>
                      </a:r>
                    </a:p>
                  </a:txBody>
                  <a:tcPr marT="45638" marB="4563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38" marB="4563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sym typeface="Wingdings" pitchFamily="2" charset="2"/>
                      </a:endParaRPr>
                    </a:p>
                  </a:txBody>
                  <a:tcPr marT="45638" marB="4563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sym typeface="Wingdings" pitchFamily="2" charset="2"/>
                      </a:endParaRPr>
                    </a:p>
                  </a:txBody>
                  <a:tcPr marT="45638" marB="4563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sym typeface="Wingdings" pitchFamily="2" charset="2"/>
                      </a:endParaRPr>
                    </a:p>
                  </a:txBody>
                  <a:tcPr marT="45638" marB="4563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206110"/>
              </p:ext>
            </p:extLst>
          </p:nvPr>
        </p:nvGraphicFramePr>
        <p:xfrm>
          <a:off x="169863" y="2920774"/>
          <a:ext cx="8732837" cy="2884490"/>
        </p:xfrm>
        <a:graphic>
          <a:graphicData uri="http://schemas.openxmlformats.org/drawingml/2006/table">
            <a:tbl>
              <a:tblPr/>
              <a:tblGrid>
                <a:gridCol w="5395912"/>
                <a:gridCol w="868363"/>
                <a:gridCol w="865187"/>
                <a:gridCol w="795338"/>
                <a:gridCol w="808037"/>
              </a:tblGrid>
              <a:tr h="5048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项目状态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DC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绿灯</a:t>
                      </a:r>
                      <a:endParaRPr kumimoji="0" 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黄灯</a:t>
                      </a:r>
                      <a:endParaRPr kumimoji="0" 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红灯</a:t>
                      </a:r>
                      <a:endParaRPr kumimoji="0" 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空白</a:t>
                      </a:r>
                      <a:endParaRPr kumimoji="0" 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</a:tr>
              <a:tr h="4754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项目整体情况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 — 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系统调研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34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 — 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业务蓝图设计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— 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系统实现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 — 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系统上线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C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" name="Picture 95" descr="Alert Cau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813" y="2338162"/>
            <a:ext cx="26193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6" descr="Alert Stop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63" y="2323874"/>
            <a:ext cx="2873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7" descr="Trus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225" y="2322287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val 151"/>
          <p:cNvSpPr>
            <a:spLocks noChangeArrowheads="1"/>
          </p:cNvSpPr>
          <p:nvPr/>
        </p:nvSpPr>
        <p:spPr bwMode="auto">
          <a:xfrm>
            <a:off x="8358188" y="2369912"/>
            <a:ext cx="209550" cy="2190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lIns="81861" tIns="40930" rIns="81861" bIns="40930" anchor="ctr"/>
          <a:lstStyle/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1" name="Picture 97" descr="Trus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3557362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97" descr="Trus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3985987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7" descr="Trus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606" y="4425724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97" descr="Trus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941863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97" descr="Trus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619" y="5381600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786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Resource\WorkFile\客户资料\嘉联科技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88" y="116632"/>
            <a:ext cx="17907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Resource\WorkFile\朋乐\logoblu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16632"/>
            <a:ext cx="2489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标题 1"/>
          <p:cNvSpPr txBox="1">
            <a:spLocks/>
          </p:cNvSpPr>
          <p:nvPr/>
        </p:nvSpPr>
        <p:spPr>
          <a:xfrm>
            <a:off x="457200" y="70182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上</a:t>
            </a:r>
            <a:r>
              <a:rPr lang="zh-CN" altLang="en-US" sz="2800" dirty="0" smtClean="0"/>
              <a:t>周</a:t>
            </a:r>
            <a:r>
              <a:rPr lang="zh-CN" sz="2800" dirty="0" smtClean="0"/>
              <a:t>主要工作进展</a:t>
            </a:r>
          </a:p>
        </p:txBody>
      </p:sp>
      <p:sp>
        <p:nvSpPr>
          <p:cNvPr id="16" name="内容占位符 2"/>
          <p:cNvSpPr txBox="1">
            <a:spLocks/>
          </p:cNvSpPr>
          <p:nvPr/>
        </p:nvSpPr>
        <p:spPr>
          <a:xfrm>
            <a:off x="457200" y="1701949"/>
            <a:ext cx="8229600" cy="475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 smtClean="0"/>
              <a:t>主页</a:t>
            </a:r>
            <a:r>
              <a:rPr lang="zh-CN" altLang="en-US" sz="1800" dirty="0"/>
              <a:t>图表报表样式修改完善；</a:t>
            </a:r>
          </a:p>
          <a:p>
            <a:r>
              <a:rPr lang="zh-CN" altLang="en-US" sz="1800" dirty="0" smtClean="0"/>
              <a:t>审批</a:t>
            </a:r>
            <a:r>
              <a:rPr lang="zh-CN" altLang="en-US" sz="1800" dirty="0"/>
              <a:t>提醒、推送给市场部、推送给供应商的邮件格式确定完善；</a:t>
            </a:r>
          </a:p>
          <a:p>
            <a:r>
              <a:rPr lang="en-US" altLang="zh-CN" sz="1800" dirty="0" smtClean="0"/>
              <a:t>IT</a:t>
            </a:r>
            <a:r>
              <a:rPr lang="zh-CN" altLang="en-US" sz="1800" dirty="0"/>
              <a:t>部沟通</a:t>
            </a:r>
            <a:r>
              <a:rPr lang="en-US" altLang="zh-CN" sz="1800" dirty="0"/>
              <a:t>SRM</a:t>
            </a:r>
            <a:r>
              <a:rPr lang="zh-CN" altLang="en-US" sz="1800" dirty="0"/>
              <a:t>平台域名绑定方案；</a:t>
            </a:r>
          </a:p>
          <a:p>
            <a:r>
              <a:rPr lang="zh-CN" altLang="en-US" sz="1800" dirty="0" smtClean="0"/>
              <a:t>软件</a:t>
            </a:r>
            <a:r>
              <a:rPr lang="zh-CN" altLang="en-US" sz="1800" dirty="0"/>
              <a:t>著作权的基本资料（包括源码和操作说明）；</a:t>
            </a:r>
          </a:p>
          <a:p>
            <a:r>
              <a:rPr lang="zh-CN" altLang="en-US" sz="1800" dirty="0" smtClean="0"/>
              <a:t>招标</a:t>
            </a:r>
            <a:r>
              <a:rPr lang="zh-CN" altLang="en-US" sz="1800" dirty="0"/>
              <a:t>项目的导入支持；</a:t>
            </a:r>
          </a:p>
          <a:p>
            <a:r>
              <a:rPr lang="zh-CN" altLang="en-US" sz="1800" dirty="0" smtClean="0"/>
              <a:t>首页</a:t>
            </a:r>
            <a:r>
              <a:rPr lang="zh-CN" altLang="en-US" sz="1800" dirty="0"/>
              <a:t>动态消息支持；</a:t>
            </a:r>
          </a:p>
          <a:p>
            <a:r>
              <a:rPr lang="zh-CN" altLang="en-US" sz="1800" dirty="0" smtClean="0"/>
              <a:t>投标</a:t>
            </a:r>
            <a:r>
              <a:rPr lang="zh-CN" altLang="en-US" sz="1800" dirty="0"/>
              <a:t>模块的业务模式整合调整；</a:t>
            </a:r>
          </a:p>
          <a:p>
            <a:r>
              <a:rPr lang="zh-CN" altLang="en-US" sz="1800" dirty="0" smtClean="0"/>
              <a:t>后续</a:t>
            </a:r>
            <a:r>
              <a:rPr lang="zh-CN" altLang="en-US" sz="1800" dirty="0"/>
              <a:t>扩展功能的考虑；</a:t>
            </a:r>
          </a:p>
          <a:p>
            <a:r>
              <a:rPr lang="zh-CN" altLang="en-US" sz="1800" dirty="0" smtClean="0"/>
              <a:t>程序</a:t>
            </a:r>
            <a:r>
              <a:rPr lang="zh-CN" altLang="en-US" sz="1800" dirty="0"/>
              <a:t>试用期间的问题点收集并修改；</a:t>
            </a:r>
          </a:p>
          <a:p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152784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Resource\WorkFile\客户资料\嘉联科技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88" y="116632"/>
            <a:ext cx="17907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Resource\WorkFile\朋乐\logoblu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16632"/>
            <a:ext cx="2489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标题 1"/>
          <p:cNvSpPr txBox="1">
            <a:spLocks/>
          </p:cNvSpPr>
          <p:nvPr/>
        </p:nvSpPr>
        <p:spPr>
          <a:xfrm>
            <a:off x="457200" y="70182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本</a:t>
            </a:r>
            <a:r>
              <a:rPr lang="zh-CN" altLang="en-US" sz="2800" dirty="0" smtClean="0"/>
              <a:t>周</a:t>
            </a:r>
            <a:r>
              <a:rPr lang="zh-CN" sz="2800" dirty="0" smtClean="0"/>
              <a:t>主要工作</a:t>
            </a:r>
            <a:r>
              <a:rPr lang="zh-CN" altLang="en-US" sz="2800" dirty="0" smtClean="0"/>
              <a:t>计划</a:t>
            </a:r>
            <a:endParaRPr lang="zh-CN" sz="2800" dirty="0" smtClean="0"/>
          </a:p>
        </p:txBody>
      </p:sp>
      <p:sp>
        <p:nvSpPr>
          <p:cNvPr id="16" name="内容占位符 2"/>
          <p:cNvSpPr txBox="1">
            <a:spLocks/>
          </p:cNvSpPr>
          <p:nvPr/>
        </p:nvSpPr>
        <p:spPr>
          <a:xfrm>
            <a:off x="457200" y="1701949"/>
            <a:ext cx="8229600" cy="475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问题点收集并修改；</a:t>
            </a:r>
          </a:p>
          <a:p>
            <a:r>
              <a:rPr lang="zh-CN" altLang="en-US" sz="1800" dirty="0" smtClean="0"/>
              <a:t>首页</a:t>
            </a:r>
            <a:r>
              <a:rPr lang="zh-CN" altLang="en-US" sz="1800" dirty="0"/>
              <a:t>提供给供应商的系统帮助页面；</a:t>
            </a:r>
          </a:p>
          <a:p>
            <a:r>
              <a:rPr lang="zh-CN" altLang="en-US" sz="1800" dirty="0" smtClean="0"/>
              <a:t>继续</a:t>
            </a:r>
            <a:r>
              <a:rPr lang="zh-CN" altLang="en-US" sz="1800" dirty="0"/>
              <a:t>完善报表数据；</a:t>
            </a:r>
          </a:p>
          <a:p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106778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Resource\WorkFile\客户资料\嘉联科技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88" y="116632"/>
            <a:ext cx="17907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Resource\WorkFile\朋乐\logoblu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16632"/>
            <a:ext cx="2489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标题 1"/>
          <p:cNvSpPr txBox="1">
            <a:spLocks/>
          </p:cNvSpPr>
          <p:nvPr/>
        </p:nvSpPr>
        <p:spPr>
          <a:xfrm>
            <a:off x="457200" y="77333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需要沟通协调的事项</a:t>
            </a:r>
            <a:endParaRPr lang="zh-CN" sz="2800" smtClean="0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323850" y="1773461"/>
            <a:ext cx="8640763" cy="3887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itchFamily="34" charset="0"/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、无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59088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344</Words>
  <Application>Microsoft Office PowerPoint</Application>
  <PresentationFormat>全屏显示(4:3)</PresentationFormat>
  <Paragraphs>97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zhanghang</dc:creator>
  <cp:lastModifiedBy>zhanghang</cp:lastModifiedBy>
  <cp:revision>53</cp:revision>
  <dcterms:created xsi:type="dcterms:W3CDTF">2017-05-23T06:45:32Z</dcterms:created>
  <dcterms:modified xsi:type="dcterms:W3CDTF">2017-09-25T01:50:22Z</dcterms:modified>
</cp:coreProperties>
</file>